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K Modular" charset="1" panose="00000800000000000000"/>
      <p:regular r:id="rId21"/>
    </p:embeddedFont>
    <p:embeddedFont>
      <p:font typeface="Neue Machina" charset="1" panose="00000500000000000000"/>
      <p:regular r:id="rId22"/>
    </p:embeddedFont>
    <p:embeddedFont>
      <p:font typeface="Neue Machina Ultra-Bold" charset="1" panose="000009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7.png" Type="http://schemas.openxmlformats.org/officeDocument/2006/relationships/image"/><Relationship Id="rId13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6.pn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52.pn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58.png" Type="http://schemas.openxmlformats.org/officeDocument/2006/relationships/image"/><Relationship Id="rId13" Target="../media/image59.sv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62.png" Type="http://schemas.openxmlformats.org/officeDocument/2006/relationships/image"/><Relationship Id="rId17" Target="../media/image63.png" Type="http://schemas.openxmlformats.org/officeDocument/2006/relationships/image"/><Relationship Id="rId18" Target="../media/image64.png" Type="http://schemas.openxmlformats.org/officeDocument/2006/relationships/image"/><Relationship Id="rId2" Target="../media/image28.png" Type="http://schemas.openxmlformats.org/officeDocument/2006/relationships/image"/><Relationship Id="rId3" Target="../media/image53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6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42" y="258020"/>
            <a:ext cx="18275915" cy="9770960"/>
          </a:xfrm>
          <a:custGeom>
            <a:avLst/>
            <a:gdLst/>
            <a:ahLst/>
            <a:cxnLst/>
            <a:rect r="r" b="b" t="t" l="l"/>
            <a:pathLst>
              <a:path h="9770960" w="18275915">
                <a:moveTo>
                  <a:pt x="0" y="0"/>
                </a:moveTo>
                <a:lnTo>
                  <a:pt x="18275916" y="0"/>
                </a:lnTo>
                <a:lnTo>
                  <a:pt x="18275916" y="9770960"/>
                </a:lnTo>
                <a:lnTo>
                  <a:pt x="0" y="9770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71765" y="2882469"/>
            <a:ext cx="5225911" cy="5225911"/>
          </a:xfrm>
          <a:custGeom>
            <a:avLst/>
            <a:gdLst/>
            <a:ahLst/>
            <a:cxnLst/>
            <a:rect r="r" b="b" t="t" l="l"/>
            <a:pathLst>
              <a:path h="5225911" w="5225911">
                <a:moveTo>
                  <a:pt x="0" y="0"/>
                </a:moveTo>
                <a:lnTo>
                  <a:pt x="5225911" y="0"/>
                </a:lnTo>
                <a:lnTo>
                  <a:pt x="5225911" y="5225911"/>
                </a:lnTo>
                <a:lnTo>
                  <a:pt x="0" y="5225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9544" y="2348432"/>
            <a:ext cx="13768911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CY Stadium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28084" y="7390069"/>
            <a:ext cx="1143183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924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SECURE YOUR SEAT, INSTANTLY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80416" y="3095352"/>
            <a:ext cx="6607584" cy="5745373"/>
            <a:chOff x="0" y="0"/>
            <a:chExt cx="6350000" cy="552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5521401"/>
            </a:xfrm>
            <a:custGeom>
              <a:avLst/>
              <a:gdLst/>
              <a:ahLst/>
              <a:cxnLst/>
              <a:rect r="r" b="b" t="t" l="l"/>
              <a:pathLst>
                <a:path h="5521401" w="6350000">
                  <a:moveTo>
                    <a:pt x="0" y="3197000"/>
                  </a:moveTo>
                  <a:lnTo>
                    <a:pt x="1606550" y="5521401"/>
                  </a:lnTo>
                  <a:lnTo>
                    <a:pt x="4968240" y="5521401"/>
                  </a:lnTo>
                  <a:lnTo>
                    <a:pt x="4968240" y="3197000"/>
                  </a:lnTo>
                  <a:lnTo>
                    <a:pt x="635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454" t="0" r="-2375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22388" y="-1216641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9175" y="3925315"/>
            <a:ext cx="9932288" cy="491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INTRODUCTION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PROBLÉMATIQUE ET OBJECTIFS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VUE D’ENSEMBLE DE L’ARCHITECTURE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LE CŒUR CRITIQUE : ACTEURS AKKA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WORKFLOW D’UNE RÉSERVATION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RÉSERVATION ATOMIQUE MULTI-SIÈGES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MODÉLISATION FORMELLE AVEC LES RÉSEAUX DE PÉTRI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PROPRIÉTÉS VÉRIFIÉES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TESTS ET VALIDATION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DÉMONSTRATION DE L’APPLICATION</a:t>
            </a:r>
          </a:p>
          <a:p>
            <a:pPr algn="l" marL="543013" indent="-271507" lvl="1">
              <a:lnSpc>
                <a:spcPts val="3521"/>
              </a:lnSpc>
              <a:buAutoNum type="arabicPeriod" startAt="1"/>
            </a:pPr>
            <a:r>
              <a:rPr lang="en-US" b="true" sz="25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CONCLUSION ET BILAN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46586"/>
            <a:ext cx="7692246" cy="110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8"/>
              </a:lnSpc>
            </a:pPr>
            <a:r>
              <a:rPr lang="en-US" sz="76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SOMMAIRE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60340" y="0"/>
            <a:ext cx="7927660" cy="10287000"/>
            <a:chOff x="0" y="0"/>
            <a:chExt cx="9098290" cy="11806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98290" cy="11806020"/>
            </a:xfrm>
            <a:custGeom>
              <a:avLst/>
              <a:gdLst/>
              <a:ahLst/>
              <a:cxnLst/>
              <a:rect r="r" b="b" t="t" l="l"/>
              <a:pathLst>
                <a:path h="11806020" w="9098290">
                  <a:moveTo>
                    <a:pt x="1057264" y="11806020"/>
                  </a:moveTo>
                  <a:lnTo>
                    <a:pt x="0" y="0"/>
                  </a:lnTo>
                  <a:lnTo>
                    <a:pt x="8041026" y="0"/>
                  </a:lnTo>
                  <a:lnTo>
                    <a:pt x="9098290" y="11806020"/>
                  </a:lnTo>
                  <a:close/>
                </a:path>
              </a:pathLst>
            </a:custGeom>
            <a:blipFill>
              <a:blip r:embed="rId3"/>
              <a:stretch>
                <a:fillRect l="-150798" t="-18203" r="-2188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4281979">
            <a:off x="7717764" y="9149103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261151">
            <a:off x="4753587" y="-1819388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1364" y="3639216"/>
            <a:ext cx="326418" cy="326418"/>
          </a:xfrm>
          <a:custGeom>
            <a:avLst/>
            <a:gdLst/>
            <a:ahLst/>
            <a:cxnLst/>
            <a:rect r="r" b="b" t="t" l="l"/>
            <a:pathLst>
              <a:path h="326418" w="326418">
                <a:moveTo>
                  <a:pt x="0" y="0"/>
                </a:moveTo>
                <a:lnTo>
                  <a:pt x="326417" y="0"/>
                </a:lnTo>
                <a:lnTo>
                  <a:pt x="326417" y="326417"/>
                </a:lnTo>
                <a:lnTo>
                  <a:pt x="0" y="326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6050" y="8504224"/>
            <a:ext cx="2502016" cy="985431"/>
          </a:xfrm>
          <a:custGeom>
            <a:avLst/>
            <a:gdLst/>
            <a:ahLst/>
            <a:cxnLst/>
            <a:rect r="r" b="b" t="t" l="l"/>
            <a:pathLst>
              <a:path h="985431" w="2502016">
                <a:moveTo>
                  <a:pt x="0" y="0"/>
                </a:moveTo>
                <a:lnTo>
                  <a:pt x="2502016" y="0"/>
                </a:lnTo>
                <a:lnTo>
                  <a:pt x="2502016" y="985431"/>
                </a:lnTo>
                <a:lnTo>
                  <a:pt x="0" y="985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96742" y="8418499"/>
            <a:ext cx="2780426" cy="1139975"/>
          </a:xfrm>
          <a:custGeom>
            <a:avLst/>
            <a:gdLst/>
            <a:ahLst/>
            <a:cxnLst/>
            <a:rect r="r" b="b" t="t" l="l"/>
            <a:pathLst>
              <a:path h="1139975" w="2780426">
                <a:moveTo>
                  <a:pt x="0" y="0"/>
                </a:moveTo>
                <a:lnTo>
                  <a:pt x="2780426" y="0"/>
                </a:lnTo>
                <a:lnTo>
                  <a:pt x="2780426" y="1139975"/>
                </a:lnTo>
                <a:lnTo>
                  <a:pt x="0" y="1139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7781" y="2072187"/>
            <a:ext cx="10887088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9"/>
              </a:lnSpc>
              <a:spcBef>
                <a:spcPct val="0"/>
              </a:spcBef>
            </a:pPr>
            <a:r>
              <a:rPr lang="en-US" sz="6999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117" y="4876462"/>
            <a:ext cx="8960811" cy="139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3500" spc="-12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Conception d'un système distribué </a:t>
            </a:r>
          </a:p>
          <a:p>
            <a:pPr algn="just">
              <a:lnSpc>
                <a:spcPts val="3605"/>
              </a:lnSpc>
            </a:pPr>
            <a:r>
              <a:rPr lang="en-US" sz="3500" spc="-12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garantissant l'exclusivité absolue : </a:t>
            </a:r>
          </a:p>
          <a:p>
            <a:pPr algn="just">
              <a:lnSpc>
                <a:spcPts val="3605"/>
              </a:lnSpc>
              <a:spcBef>
                <a:spcPct val="0"/>
              </a:spcBef>
            </a:pPr>
            <a:r>
              <a:rPr lang="en-US" sz="3500" spc="-12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un siège, un client, zéro conflit.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667791"/>
            <a:ext cx="896081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74"/>
              </a:lnSpc>
              <a:spcBef>
                <a:spcPct val="0"/>
              </a:spcBef>
            </a:pPr>
            <a:r>
              <a:rPr lang="en-US" sz="2499" spc="-87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SYSTEME CRITIQUE DISTRIBUEE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7492" y="7325924"/>
            <a:ext cx="3200400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IMPLÉMENTATION</a:t>
            </a: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MODÈLE D'ACTEURS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41981" y="7116374"/>
            <a:ext cx="4018359" cy="125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VÉRIFICATION</a:t>
            </a: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MODÈLE FORMEL VIA</a:t>
            </a:r>
          </a:p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RÉSEAUX DE PÉTRI &amp; LTL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74991"/>
            <a:ext cx="12249301" cy="20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0"/>
              </a:lnSpc>
              <a:spcBef>
                <a:spcPct val="0"/>
              </a:spcBef>
            </a:pPr>
            <a:r>
              <a:rPr lang="en-US" sz="70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pROBLEMATIQUE ET OBJECTIF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281979">
            <a:off x="5862687" y="-1432586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2452" y="4218472"/>
            <a:ext cx="772412" cy="672701"/>
          </a:xfrm>
          <a:custGeom>
            <a:avLst/>
            <a:gdLst/>
            <a:ahLst/>
            <a:cxnLst/>
            <a:rect r="r" b="b" t="t" l="l"/>
            <a:pathLst>
              <a:path h="672701" w="772412">
                <a:moveTo>
                  <a:pt x="0" y="0"/>
                </a:moveTo>
                <a:lnTo>
                  <a:pt x="772411" y="0"/>
                </a:lnTo>
                <a:lnTo>
                  <a:pt x="772411" y="672701"/>
                </a:lnTo>
                <a:lnTo>
                  <a:pt x="0" y="672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2452" y="6102629"/>
            <a:ext cx="835790" cy="819075"/>
          </a:xfrm>
          <a:custGeom>
            <a:avLst/>
            <a:gdLst/>
            <a:ahLst/>
            <a:cxnLst/>
            <a:rect r="r" b="b" t="t" l="l"/>
            <a:pathLst>
              <a:path h="819075" w="835790">
                <a:moveTo>
                  <a:pt x="0" y="0"/>
                </a:moveTo>
                <a:lnTo>
                  <a:pt x="835790" y="0"/>
                </a:lnTo>
                <a:lnTo>
                  <a:pt x="835790" y="819074"/>
                </a:lnTo>
                <a:lnTo>
                  <a:pt x="0" y="8190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3945" y="7975803"/>
            <a:ext cx="972804" cy="987481"/>
          </a:xfrm>
          <a:custGeom>
            <a:avLst/>
            <a:gdLst/>
            <a:ahLst/>
            <a:cxnLst/>
            <a:rect r="r" b="b" t="t" l="l"/>
            <a:pathLst>
              <a:path h="987481" w="972804">
                <a:moveTo>
                  <a:pt x="0" y="0"/>
                </a:moveTo>
                <a:lnTo>
                  <a:pt x="972804" y="0"/>
                </a:lnTo>
                <a:lnTo>
                  <a:pt x="972804" y="987481"/>
                </a:lnTo>
                <a:lnTo>
                  <a:pt x="0" y="987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4015" y="4373648"/>
            <a:ext cx="2113836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PROBLÈME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41129" y="5042611"/>
            <a:ext cx="16530479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UN</a:t>
            </a:r>
            <a:r>
              <a:rPr lang="en-US" b="true" sz="19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 COHÉRENCE ABSOLUE EST REQUISE FACE AUX ACCÈS SIMULTANÉS MASSIFS AFIN D'EMPÊCHER TOUTE DOUBLE RÉSERVATION.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4015" y="6306261"/>
            <a:ext cx="203156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OBJECTIF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129" y="7074103"/>
            <a:ext cx="1549209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CONCEVOIR UN SYSTÈME DISTRIBUÉ PERFORMANT, FORMELLEMENT VÉRIFIÉ ET GARANTISSANT LA COHÉRENCE MÉTIER.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4015" y="8118678"/>
            <a:ext cx="18810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RÉPONSE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2452" y="9115684"/>
            <a:ext cx="1302067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</a:t>
            </a:r>
            <a:r>
              <a:rPr lang="en-US" b="true" sz="19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ONCURRENCE VIA ACTEURS AKKA, RÉSERVATION ATOMIQUE ET VALIDATION FORMELLE (PÉTRI/LTL).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281979">
            <a:off x="12950881" y="-131023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281979">
            <a:off x="10517300" y="9827801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2164" y="3917606"/>
            <a:ext cx="746493" cy="647413"/>
          </a:xfrm>
          <a:custGeom>
            <a:avLst/>
            <a:gdLst/>
            <a:ahLst/>
            <a:cxnLst/>
            <a:rect r="r" b="b" t="t" l="l"/>
            <a:pathLst>
              <a:path h="647413" w="746493">
                <a:moveTo>
                  <a:pt x="0" y="0"/>
                </a:moveTo>
                <a:lnTo>
                  <a:pt x="746493" y="0"/>
                </a:lnTo>
                <a:lnTo>
                  <a:pt x="746493" y="647413"/>
                </a:lnTo>
                <a:lnTo>
                  <a:pt x="0" y="647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075" y="4955544"/>
            <a:ext cx="896672" cy="896672"/>
          </a:xfrm>
          <a:custGeom>
            <a:avLst/>
            <a:gdLst/>
            <a:ahLst/>
            <a:cxnLst/>
            <a:rect r="r" b="b" t="t" l="l"/>
            <a:pathLst>
              <a:path h="896672" w="896672">
                <a:moveTo>
                  <a:pt x="0" y="0"/>
                </a:moveTo>
                <a:lnTo>
                  <a:pt x="896672" y="0"/>
                </a:lnTo>
                <a:lnTo>
                  <a:pt x="896672" y="896672"/>
                </a:lnTo>
                <a:lnTo>
                  <a:pt x="0" y="8966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4731" y="6242741"/>
            <a:ext cx="713926" cy="719157"/>
          </a:xfrm>
          <a:custGeom>
            <a:avLst/>
            <a:gdLst/>
            <a:ahLst/>
            <a:cxnLst/>
            <a:rect r="r" b="b" t="t" l="l"/>
            <a:pathLst>
              <a:path h="719157" w="713926">
                <a:moveTo>
                  <a:pt x="0" y="0"/>
                </a:moveTo>
                <a:lnTo>
                  <a:pt x="713926" y="0"/>
                </a:lnTo>
                <a:lnTo>
                  <a:pt x="713926" y="719157"/>
                </a:lnTo>
                <a:lnTo>
                  <a:pt x="0" y="7191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7075" y="7352423"/>
            <a:ext cx="871664" cy="876445"/>
          </a:xfrm>
          <a:custGeom>
            <a:avLst/>
            <a:gdLst/>
            <a:ahLst/>
            <a:cxnLst/>
            <a:rect r="r" b="b" t="t" l="l"/>
            <a:pathLst>
              <a:path h="876445" w="871664">
                <a:moveTo>
                  <a:pt x="0" y="0"/>
                </a:moveTo>
                <a:lnTo>
                  <a:pt x="871664" y="0"/>
                </a:lnTo>
                <a:lnTo>
                  <a:pt x="871664" y="876445"/>
                </a:lnTo>
                <a:lnTo>
                  <a:pt x="0" y="876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703210" y="911672"/>
            <a:ext cx="19694420" cy="174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2"/>
              </a:lnSpc>
              <a:spcBef>
                <a:spcPct val="0"/>
              </a:spcBef>
            </a:pPr>
            <a:r>
              <a:rPr lang="en-US" sz="6099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Vue d’ensemble de l’architecture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90123" y="2970019"/>
            <a:ext cx="7876343" cy="7015541"/>
          </a:xfrm>
          <a:custGeom>
            <a:avLst/>
            <a:gdLst/>
            <a:ahLst/>
            <a:cxnLst/>
            <a:rect r="r" b="b" t="t" l="l"/>
            <a:pathLst>
              <a:path h="7015541" w="7876343">
                <a:moveTo>
                  <a:pt x="0" y="0"/>
                </a:moveTo>
                <a:lnTo>
                  <a:pt x="7876343" y="0"/>
                </a:lnTo>
                <a:lnTo>
                  <a:pt x="7876343" y="7015541"/>
                </a:lnTo>
                <a:lnTo>
                  <a:pt x="0" y="70155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6737" y="8946382"/>
            <a:ext cx="7787489" cy="76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lang="en-US" b="true" sz="21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SÉPARATION STRICTE DES RESPONSABILITÉS POUR UNE FIABILITÉ MAXIMALE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8615" y="3860456"/>
            <a:ext cx="12562046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FRONTEND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NEXT.JS / REACT / TYPESCRIPT / TAILWIND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8615" y="5016816"/>
            <a:ext cx="5353526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API LAYER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AKKA HTTP (REST) + WEBSOCKET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8615" y="6185591"/>
            <a:ext cx="6063734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CŒUR MÉTIER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AKKA CLASSIC (SYSTÈME D'ACTEURS)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8615" y="7295273"/>
            <a:ext cx="4567714" cy="83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PERSISTANCE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POSTGRESQL / SLICK (JDBC)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3" r="0" b="-7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94532">
            <a:off x="-2083572" y="-14861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994532">
            <a:off x="16426626" y="195415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58" y="1499555"/>
            <a:ext cx="15404592" cy="19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Le coeur critique : acteurs AKKA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88007"/>
            <a:ext cx="11953577" cy="437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SUPERVISOR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SUPERVISE LES COMPOSANTS MÉTIER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MATCHMANAGER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GÈRE UN MATCH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ZONEMANAGER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GÈRE UNE ZONE TARIFAIRE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SEATACTOR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GÈRE UN SIÈGE INDIVIDUEL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SEATALLOCATOR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COORDONNE LA RÉSERVATION ATOMIQUE MULTI-SIÈGES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RESERVATIONHANDLER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ORCHESTRE LE WORKFLOW COMPLET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PAYMENTGATEWAY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SIMULE LE PAIEMENT</a:t>
            </a:r>
          </a:p>
          <a:p>
            <a:pPr algn="l" marL="496567" indent="-248284" lvl="1">
              <a:lnSpc>
                <a:spcPts val="4369"/>
              </a:lnSpc>
              <a:buFont typeface="Arial"/>
              <a:buChar char="•"/>
            </a:pPr>
            <a:r>
              <a:rPr lang="en-US" b="true" sz="2299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SESSIONMANAGER</a:t>
            </a:r>
            <a:r>
              <a:rPr lang="en-US" b="true" sz="22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GÈRE L’AUTHENTIFICATION ET LES SESSIONS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146657"/>
            <a:ext cx="5253889" cy="4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3"/>
              </a:lnSpc>
              <a:spcBef>
                <a:spcPct val="0"/>
              </a:spcBef>
            </a:pPr>
            <a:r>
              <a:rPr lang="en-US" b="true" sz="2859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LES ACTEURS AKKA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3" r="0" b="-7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94532">
            <a:off x="-2083572" y="-14861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994532">
            <a:off x="16426626" y="195415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52292" y="5754212"/>
            <a:ext cx="10183417" cy="3623090"/>
          </a:xfrm>
          <a:custGeom>
            <a:avLst/>
            <a:gdLst/>
            <a:ahLst/>
            <a:cxnLst/>
            <a:rect r="r" b="b" t="t" l="l"/>
            <a:pathLst>
              <a:path h="3623090" w="10183417">
                <a:moveTo>
                  <a:pt x="0" y="0"/>
                </a:moveTo>
                <a:lnTo>
                  <a:pt x="10183416" y="0"/>
                </a:lnTo>
                <a:lnTo>
                  <a:pt x="10183416" y="3623090"/>
                </a:lnTo>
                <a:lnTo>
                  <a:pt x="0" y="36230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3298" y="1403993"/>
            <a:ext cx="15404592" cy="19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Le coeur critique : acteurs AKKA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00017" y="4018621"/>
            <a:ext cx="8795856" cy="41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 CHOIX CLÉ : 1 ACTEUR PAR SIÈGE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84750" y="4673007"/>
            <a:ext cx="105185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CHAQUE </a:t>
            </a:r>
            <a:r>
              <a:rPr lang="en-US" b="true" sz="1800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SEATACTOR</a:t>
            </a: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TRAITE SES MESSAGES SÉQUENTIELLEMENT, CE QUI PERMET DE SÉRIALISER NATURELLEMENT LES DEMANDES CONCURRENTES SUR UN MÊME SIÈGE.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65212" y="1937704"/>
            <a:ext cx="8711235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  <a:spcBef>
                <a:spcPct val="0"/>
              </a:spcBef>
            </a:pPr>
            <a:r>
              <a:rPr lang="en-US" sz="60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Workflow d’une réserva</a:t>
            </a:r>
            <a:r>
              <a:rPr lang="en-US" b="true" sz="6000" strike="noStrike" u="none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916026">
            <a:off x="16530757" y="1203614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86059">
            <a:off x="67367" y="-1610074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5443" y="83577"/>
            <a:ext cx="6042557" cy="2832527"/>
          </a:xfrm>
          <a:custGeom>
            <a:avLst/>
            <a:gdLst/>
            <a:ahLst/>
            <a:cxnLst/>
            <a:rect r="r" b="b" t="t" l="l"/>
            <a:pathLst>
              <a:path h="2832527" w="6042557">
                <a:moveTo>
                  <a:pt x="0" y="0"/>
                </a:moveTo>
                <a:lnTo>
                  <a:pt x="6042557" y="0"/>
                </a:lnTo>
                <a:lnTo>
                  <a:pt x="6042557" y="2832527"/>
                </a:lnTo>
                <a:lnTo>
                  <a:pt x="0" y="2832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777" t="-35189" r="-11712" b="-2019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68134" y="3195528"/>
            <a:ext cx="6019866" cy="3276619"/>
          </a:xfrm>
          <a:custGeom>
            <a:avLst/>
            <a:gdLst/>
            <a:ahLst/>
            <a:cxnLst/>
            <a:rect r="r" b="b" t="t" l="l"/>
            <a:pathLst>
              <a:path h="3276619" w="6019866">
                <a:moveTo>
                  <a:pt x="0" y="0"/>
                </a:moveTo>
                <a:lnTo>
                  <a:pt x="6019866" y="0"/>
                </a:lnTo>
                <a:lnTo>
                  <a:pt x="6019866" y="3276619"/>
                </a:lnTo>
                <a:lnTo>
                  <a:pt x="0" y="3276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966" t="-27175" r="-11712" b="-1407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68134" y="6751571"/>
            <a:ext cx="6019866" cy="3451852"/>
          </a:xfrm>
          <a:custGeom>
            <a:avLst/>
            <a:gdLst/>
            <a:ahLst/>
            <a:cxnLst/>
            <a:rect r="r" b="b" t="t" l="l"/>
            <a:pathLst>
              <a:path h="3451852" w="6019866">
                <a:moveTo>
                  <a:pt x="0" y="0"/>
                </a:moveTo>
                <a:lnTo>
                  <a:pt x="6019866" y="0"/>
                </a:lnTo>
                <a:lnTo>
                  <a:pt x="6019866" y="3451852"/>
                </a:lnTo>
                <a:lnTo>
                  <a:pt x="0" y="3451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106" t="-20166" r="-31654" b="-13012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2410">
            <a:off x="69950" y="4947545"/>
            <a:ext cx="706133" cy="2219274"/>
          </a:xfrm>
          <a:custGeom>
            <a:avLst/>
            <a:gdLst/>
            <a:ahLst/>
            <a:cxnLst/>
            <a:rect r="r" b="b" t="t" l="l"/>
            <a:pathLst>
              <a:path h="2219274" w="706133">
                <a:moveTo>
                  <a:pt x="706133" y="0"/>
                </a:moveTo>
                <a:lnTo>
                  <a:pt x="0" y="0"/>
                </a:lnTo>
                <a:lnTo>
                  <a:pt x="0" y="2219274"/>
                </a:lnTo>
                <a:lnTo>
                  <a:pt x="706133" y="2219274"/>
                </a:lnTo>
                <a:lnTo>
                  <a:pt x="7061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7853" y="4776688"/>
            <a:ext cx="7871409" cy="300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6356" indent="-273178" lvl="1">
              <a:lnSpc>
                <a:spcPts val="3416"/>
              </a:lnSpc>
              <a:buAutoNum type="arabicPeriod" startAt="1"/>
            </a:pP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Le client s’authentifie et obtient une session</a:t>
            </a:r>
          </a:p>
          <a:p>
            <a:pPr algn="just" marL="546356" indent="-273178" lvl="1">
              <a:lnSpc>
                <a:spcPts val="3416"/>
              </a:lnSpc>
              <a:buAutoNum type="arabicPeriod" startAt="1"/>
            </a:pP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Il consulte les disponibilités d’un match</a:t>
            </a:r>
          </a:p>
          <a:p>
            <a:pPr algn="just" marL="546356" indent="-273178" lvl="1">
              <a:lnSpc>
                <a:spcPts val="3416"/>
              </a:lnSpc>
              <a:buAutoNum type="arabicPeriod" startAt="1"/>
            </a:pP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Il sélectionne un ou plusieurs sièges</a:t>
            </a:r>
          </a:p>
          <a:p>
            <a:pPr algn="just" marL="546356" indent="-273178" lvl="1">
              <a:lnSpc>
                <a:spcPts val="3416"/>
              </a:lnSpc>
              <a:buAutoNum type="arabicPeriod" startAt="1"/>
            </a:pP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Le système </a:t>
            </a: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tente une réservation atomique</a:t>
            </a:r>
          </a:p>
          <a:p>
            <a:pPr algn="just" marL="546356" indent="-273178" lvl="1">
              <a:lnSpc>
                <a:spcPts val="3416"/>
              </a:lnSpc>
              <a:buAutoNum type="arabicPeriod" startAt="1"/>
            </a:pP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Le paiement est lancé</a:t>
            </a:r>
          </a:p>
          <a:p>
            <a:pPr algn="just" marL="546356" indent="-273178" lvl="1">
              <a:lnSpc>
                <a:spcPts val="3416"/>
              </a:lnSpc>
              <a:buAutoNum type="arabicPeriod" startAt="1"/>
            </a:pP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La ré</a:t>
            </a:r>
            <a:r>
              <a:rPr lang="en-US" sz="2530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servation est soit confirmée, soit annulée avec libération des siège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603" y="4163055"/>
            <a:ext cx="2131027" cy="41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WORKFLOW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9211" y="7900051"/>
            <a:ext cx="6031431" cy="41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BLOC “CAS GÉRÉS”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7072" y="8550332"/>
            <a:ext cx="4685679" cy="133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6226" indent="-273113" lvl="1">
              <a:lnSpc>
                <a:spcPts val="2605"/>
              </a:lnSpc>
              <a:buFont typeface="Arial"/>
              <a:buChar char="•"/>
            </a:pPr>
            <a:r>
              <a:rPr lang="en-US" sz="2529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succès du paiem</a:t>
            </a:r>
            <a:r>
              <a:rPr lang="en-US" sz="2529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ent</a:t>
            </a:r>
          </a:p>
          <a:p>
            <a:pPr algn="just" marL="546226" indent="-273113" lvl="1">
              <a:lnSpc>
                <a:spcPts val="2605"/>
              </a:lnSpc>
              <a:buFont typeface="Arial"/>
              <a:buChar char="•"/>
            </a:pPr>
            <a:r>
              <a:rPr lang="en-US" sz="2529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</a:t>
            </a:r>
            <a:r>
              <a:rPr lang="en-US" sz="2529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efus du paiement</a:t>
            </a:r>
          </a:p>
          <a:p>
            <a:pPr algn="just" marL="546226" indent="-273113" lvl="1">
              <a:lnSpc>
                <a:spcPts val="2605"/>
              </a:lnSpc>
              <a:buFont typeface="Arial"/>
              <a:buChar char="•"/>
            </a:pPr>
            <a:r>
              <a:rPr lang="en-US" sz="2529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timeout</a:t>
            </a:r>
          </a:p>
          <a:p>
            <a:pPr algn="just" marL="546226" indent="-273113" lvl="1">
              <a:lnSpc>
                <a:spcPts val="2605"/>
              </a:lnSpc>
              <a:spcBef>
                <a:spcPct val="0"/>
              </a:spcBef>
              <a:buFont typeface="Arial"/>
              <a:buChar char="•"/>
            </a:pPr>
            <a:r>
              <a:rPr lang="en-US" sz="2529" spc="-88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rollback automatique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7300" y="168459"/>
            <a:ext cx="47758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27832" y="3119328"/>
            <a:ext cx="5365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53282" y="6799185"/>
            <a:ext cx="54456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3.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3117" y="1394468"/>
            <a:ext cx="1553630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  <a:spcBef>
                <a:spcPct val="0"/>
              </a:spcBef>
            </a:pPr>
            <a:r>
              <a:rPr lang="en-US" sz="60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Réserva</a:t>
            </a:r>
            <a:r>
              <a:rPr lang="en-US" b="true" sz="6000" strike="noStrike" u="none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tion atomique multi-sièges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916026">
            <a:off x="16888431" y="-1686016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44017">
            <a:off x="-1757243" y="1769745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80734" y="6145898"/>
            <a:ext cx="6007266" cy="3898787"/>
            <a:chOff x="0" y="0"/>
            <a:chExt cx="8009688" cy="51983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09688" cy="4102730"/>
            </a:xfrm>
            <a:custGeom>
              <a:avLst/>
              <a:gdLst/>
              <a:ahLst/>
              <a:cxnLst/>
              <a:rect r="r" b="b" t="t" l="l"/>
              <a:pathLst>
                <a:path h="4102730" w="8009688">
                  <a:moveTo>
                    <a:pt x="0" y="0"/>
                  </a:moveTo>
                  <a:lnTo>
                    <a:pt x="8009688" y="0"/>
                  </a:lnTo>
                  <a:lnTo>
                    <a:pt x="8009688" y="4102730"/>
                  </a:lnTo>
                  <a:lnTo>
                    <a:pt x="0" y="4102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871" t="-24221" r="-5285" b="-1322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48676" y="4016220"/>
              <a:ext cx="6192282" cy="1182163"/>
            </a:xfrm>
            <a:custGeom>
              <a:avLst/>
              <a:gdLst/>
              <a:ahLst/>
              <a:cxnLst/>
              <a:rect r="r" b="b" t="t" l="l"/>
              <a:pathLst>
                <a:path h="1182163" w="6192282">
                  <a:moveTo>
                    <a:pt x="0" y="0"/>
                  </a:moveTo>
                  <a:lnTo>
                    <a:pt x="6192282" y="0"/>
                  </a:lnTo>
                  <a:lnTo>
                    <a:pt x="6192282" y="1182163"/>
                  </a:lnTo>
                  <a:lnTo>
                    <a:pt x="0" y="118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179735" y="4395942"/>
              <a:ext cx="3836926" cy="383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68"/>
                </a:lnSpc>
                <a:spcBef>
                  <a:spcPct val="0"/>
                </a:spcBef>
              </a:pPr>
              <a:r>
                <a:rPr lang="en-US" b="true" sz="2008" spc="-70">
                  <a:solidFill>
                    <a:srgbClr val="2A197B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Mes Réservations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55018" y="3379819"/>
            <a:ext cx="6007266" cy="3898787"/>
            <a:chOff x="0" y="0"/>
            <a:chExt cx="8009688" cy="51983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09688" cy="4102730"/>
            </a:xfrm>
            <a:custGeom>
              <a:avLst/>
              <a:gdLst/>
              <a:ahLst/>
              <a:cxnLst/>
              <a:rect r="r" b="b" t="t" l="l"/>
              <a:pathLst>
                <a:path h="4102730" w="8009688">
                  <a:moveTo>
                    <a:pt x="0" y="0"/>
                  </a:moveTo>
                  <a:lnTo>
                    <a:pt x="8009688" y="0"/>
                  </a:lnTo>
                  <a:lnTo>
                    <a:pt x="8009688" y="4102730"/>
                  </a:lnTo>
                  <a:lnTo>
                    <a:pt x="0" y="4102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308" t="-17216" r="-43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8090" y="4016220"/>
              <a:ext cx="6192282" cy="1182163"/>
            </a:xfrm>
            <a:custGeom>
              <a:avLst/>
              <a:gdLst/>
              <a:ahLst/>
              <a:cxnLst/>
              <a:rect r="r" b="b" t="t" l="l"/>
              <a:pathLst>
                <a:path h="1182163" w="6192282">
                  <a:moveTo>
                    <a:pt x="0" y="0"/>
                  </a:moveTo>
                  <a:lnTo>
                    <a:pt x="6192282" y="0"/>
                  </a:lnTo>
                  <a:lnTo>
                    <a:pt x="6192282" y="1182163"/>
                  </a:lnTo>
                  <a:lnTo>
                    <a:pt x="0" y="118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709149" y="4395942"/>
              <a:ext cx="3816206" cy="383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68"/>
                </a:lnSpc>
                <a:spcBef>
                  <a:spcPct val="0"/>
                </a:spcBef>
              </a:pPr>
              <a:r>
                <a:rPr lang="en-US" b="true" sz="2008" spc="-70">
                  <a:solidFill>
                    <a:srgbClr val="2A197B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Page de réseravation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0113" y="4669663"/>
            <a:ext cx="5164813" cy="5126138"/>
            <a:chOff x="0" y="0"/>
            <a:chExt cx="1360280" cy="13500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0280" cy="1350094"/>
            </a:xfrm>
            <a:custGeom>
              <a:avLst/>
              <a:gdLst/>
              <a:ahLst/>
              <a:cxnLst/>
              <a:rect r="r" b="b" t="t" l="l"/>
              <a:pathLst>
                <a:path h="1350094" w="1360280">
                  <a:moveTo>
                    <a:pt x="26982" y="0"/>
                  </a:moveTo>
                  <a:lnTo>
                    <a:pt x="1333298" y="0"/>
                  </a:lnTo>
                  <a:cubicBezTo>
                    <a:pt x="1340454" y="0"/>
                    <a:pt x="1347317" y="2843"/>
                    <a:pt x="1352377" y="7903"/>
                  </a:cubicBezTo>
                  <a:cubicBezTo>
                    <a:pt x="1357437" y="12963"/>
                    <a:pt x="1360280" y="19826"/>
                    <a:pt x="1360280" y="26982"/>
                  </a:cubicBezTo>
                  <a:lnTo>
                    <a:pt x="1360280" y="1323112"/>
                  </a:lnTo>
                  <a:cubicBezTo>
                    <a:pt x="1360280" y="1330268"/>
                    <a:pt x="1357437" y="1337131"/>
                    <a:pt x="1352377" y="1342191"/>
                  </a:cubicBezTo>
                  <a:cubicBezTo>
                    <a:pt x="1347317" y="1347251"/>
                    <a:pt x="1340454" y="1350094"/>
                    <a:pt x="1333298" y="1350094"/>
                  </a:cubicBezTo>
                  <a:lnTo>
                    <a:pt x="26982" y="1350094"/>
                  </a:lnTo>
                  <a:cubicBezTo>
                    <a:pt x="19826" y="1350094"/>
                    <a:pt x="12963" y="1347251"/>
                    <a:pt x="7903" y="1342191"/>
                  </a:cubicBezTo>
                  <a:cubicBezTo>
                    <a:pt x="2843" y="1337131"/>
                    <a:pt x="0" y="1330268"/>
                    <a:pt x="0" y="1323112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70A2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60280" cy="1388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0113" y="4057348"/>
            <a:ext cx="2426276" cy="41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RÉSERVATION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81409" y="4320020"/>
            <a:ext cx="5442648" cy="63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  <a:spcBef>
                <a:spcPct val="0"/>
              </a:spcBef>
            </a:pPr>
            <a:r>
              <a:rPr lang="en-US" sz="2354" spc="-82">
                <a:solidFill>
                  <a:srgbClr val="FFDE59"/>
                </a:solidFill>
                <a:latin typeface="Neue Machina"/>
                <a:ea typeface="Neue Machina"/>
                <a:cs typeface="Neue Machina"/>
                <a:sym typeface="Neue Machina"/>
              </a:rPr>
              <a:t> </a:t>
            </a:r>
            <a:r>
              <a:rPr lang="en-US" b="true" sz="2354" spc="-82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Bénéfice : </a:t>
            </a:r>
            <a:r>
              <a:rPr lang="en-US" b="true" sz="2354" spc="-8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cohérence métier et absence de réservation partielle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8598" y="4904976"/>
            <a:ext cx="4967842" cy="43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SEATACTOR : GÈRE LA RÉSERVATION DE PLUSIEURS SIÈGES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LE PRINCIPE APPLIQUÉ EST : TOUT OU RIEN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SI TOUS LES SIÈGES SONT DISPONIBLES, LA RÉSERVATION RÉUSSIT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SI UN SEUL SIÈGE EST INDISPONIBLE, TOUS LES SIÈGES DÉJÀ RÉSERVÉS SONT LIBÉRÉS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CELA ÉVITE LES RÉSERVATIONS PARTIELLES INCOHÉRENTES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3117" y="1490030"/>
            <a:ext cx="1553630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  <a:spcBef>
                <a:spcPct val="0"/>
              </a:spcBef>
            </a:pPr>
            <a:r>
              <a:rPr lang="en-US" sz="60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Modélisa</a:t>
            </a:r>
            <a:r>
              <a:rPr lang="en-US" b="true" sz="6000" strike="noStrike" u="none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tion formelle avec les réseaux de Pétri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916026">
            <a:off x="16670612" y="112068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244017">
            <a:off x="-1757243" y="1769745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20476" y="5143500"/>
            <a:ext cx="10046332" cy="4844349"/>
          </a:xfrm>
          <a:custGeom>
            <a:avLst/>
            <a:gdLst/>
            <a:ahLst/>
            <a:cxnLst/>
            <a:rect r="r" b="b" t="t" l="l"/>
            <a:pathLst>
              <a:path h="4844349" w="10046332">
                <a:moveTo>
                  <a:pt x="0" y="0"/>
                </a:moveTo>
                <a:lnTo>
                  <a:pt x="10046332" y="0"/>
                </a:lnTo>
                <a:lnTo>
                  <a:pt x="10046332" y="4844349"/>
                </a:lnTo>
                <a:lnTo>
                  <a:pt x="0" y="4844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66" t="-17288" r="-1840" b="-105790"/>
            </a:stretch>
          </a:blipFill>
          <a:ln w="38100" cap="sq">
            <a:solidFill>
              <a:srgbClr val="2A197B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600389" y="3789102"/>
            <a:ext cx="1637948" cy="1104871"/>
          </a:xfrm>
          <a:custGeom>
            <a:avLst/>
            <a:gdLst/>
            <a:ahLst/>
            <a:cxnLst/>
            <a:rect r="r" b="b" t="t" l="l"/>
            <a:pathLst>
              <a:path h="1104871" w="1637948">
                <a:moveTo>
                  <a:pt x="0" y="0"/>
                </a:moveTo>
                <a:lnTo>
                  <a:pt x="1637948" y="0"/>
                </a:lnTo>
                <a:lnTo>
                  <a:pt x="1637948" y="1104871"/>
                </a:lnTo>
                <a:lnTo>
                  <a:pt x="0" y="1104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35958" y="4861711"/>
            <a:ext cx="7060167" cy="2743490"/>
            <a:chOff x="0" y="0"/>
            <a:chExt cx="1859468" cy="7225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468" cy="722565"/>
            </a:xfrm>
            <a:custGeom>
              <a:avLst/>
              <a:gdLst/>
              <a:ahLst/>
              <a:cxnLst/>
              <a:rect r="r" b="b" t="t" l="l"/>
              <a:pathLst>
                <a:path h="722565" w="1859468">
                  <a:moveTo>
                    <a:pt x="19738" y="0"/>
                  </a:moveTo>
                  <a:lnTo>
                    <a:pt x="1839730" y="0"/>
                  </a:lnTo>
                  <a:cubicBezTo>
                    <a:pt x="1844965" y="0"/>
                    <a:pt x="1849985" y="2080"/>
                    <a:pt x="1853687" y="5781"/>
                  </a:cubicBezTo>
                  <a:cubicBezTo>
                    <a:pt x="1857388" y="9483"/>
                    <a:pt x="1859468" y="14503"/>
                    <a:pt x="1859468" y="19738"/>
                  </a:cubicBezTo>
                  <a:lnTo>
                    <a:pt x="1859468" y="702827"/>
                  </a:lnTo>
                  <a:cubicBezTo>
                    <a:pt x="1859468" y="708062"/>
                    <a:pt x="1857388" y="713083"/>
                    <a:pt x="1853687" y="716784"/>
                  </a:cubicBezTo>
                  <a:cubicBezTo>
                    <a:pt x="1849985" y="720486"/>
                    <a:pt x="1844965" y="722565"/>
                    <a:pt x="1839730" y="722565"/>
                  </a:cubicBezTo>
                  <a:lnTo>
                    <a:pt x="19738" y="722565"/>
                  </a:lnTo>
                  <a:cubicBezTo>
                    <a:pt x="14503" y="722565"/>
                    <a:pt x="9483" y="720486"/>
                    <a:pt x="5781" y="716784"/>
                  </a:cubicBezTo>
                  <a:cubicBezTo>
                    <a:pt x="2080" y="713083"/>
                    <a:pt x="0" y="708062"/>
                    <a:pt x="0" y="702827"/>
                  </a:cubicBezTo>
                  <a:lnTo>
                    <a:pt x="0" y="19738"/>
                  </a:lnTo>
                  <a:cubicBezTo>
                    <a:pt x="0" y="14503"/>
                    <a:pt x="2080" y="9483"/>
                    <a:pt x="5781" y="5781"/>
                  </a:cubicBezTo>
                  <a:cubicBezTo>
                    <a:pt x="9483" y="2080"/>
                    <a:pt x="14503" y="0"/>
                    <a:pt x="19738" y="0"/>
                  </a:cubicBezTo>
                  <a:close/>
                </a:path>
              </a:pathLst>
            </a:custGeom>
            <a:solidFill>
              <a:srgbClr val="70A2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59468" cy="76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5958" y="8576894"/>
            <a:ext cx="5627800" cy="1410954"/>
            <a:chOff x="0" y="0"/>
            <a:chExt cx="1482219" cy="3716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2219" cy="371609"/>
            </a:xfrm>
            <a:custGeom>
              <a:avLst/>
              <a:gdLst/>
              <a:ahLst/>
              <a:cxnLst/>
              <a:rect r="r" b="b" t="t" l="l"/>
              <a:pathLst>
                <a:path h="371609" w="1482219">
                  <a:moveTo>
                    <a:pt x="24762" y="0"/>
                  </a:moveTo>
                  <a:lnTo>
                    <a:pt x="1457457" y="0"/>
                  </a:lnTo>
                  <a:cubicBezTo>
                    <a:pt x="1471133" y="0"/>
                    <a:pt x="1482219" y="11086"/>
                    <a:pt x="1482219" y="24762"/>
                  </a:cubicBezTo>
                  <a:lnTo>
                    <a:pt x="1482219" y="346848"/>
                  </a:lnTo>
                  <a:cubicBezTo>
                    <a:pt x="1482219" y="360523"/>
                    <a:pt x="1471133" y="371609"/>
                    <a:pt x="1457457" y="371609"/>
                  </a:cubicBezTo>
                  <a:lnTo>
                    <a:pt x="24762" y="371609"/>
                  </a:lnTo>
                  <a:cubicBezTo>
                    <a:pt x="11086" y="371609"/>
                    <a:pt x="0" y="360523"/>
                    <a:pt x="0" y="346848"/>
                  </a:cubicBezTo>
                  <a:lnTo>
                    <a:pt x="0" y="24762"/>
                  </a:lnTo>
                  <a:cubicBezTo>
                    <a:pt x="0" y="11086"/>
                    <a:pt x="11086" y="0"/>
                    <a:pt x="24762" y="0"/>
                  </a:cubicBezTo>
                  <a:close/>
                </a:path>
              </a:pathLst>
            </a:custGeom>
            <a:solidFill>
              <a:srgbClr val="70A2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82219" cy="40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5958" y="4284387"/>
            <a:ext cx="10071690" cy="41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RÉSEAU DE PÉTRI MODÉLISE LE CŒUR CRITIQUE DU SYSTÈME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5958" y="8002813"/>
            <a:ext cx="4078447" cy="41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POURQUOI CE MODÈLE 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5753" y="4972491"/>
            <a:ext cx="686132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</a:t>
            </a: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ODÈLE RÉDUIT UTILISÉ : 1 MATCH, 1 ZONE VIP, 3 SIÈGES (A1, A2, A3, 2 CLIENTS (C1, C2)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CETTE RÉDUCTION PERMET D’EXPLORER L’ESPACE D’ÉTATS SANS EXPLOSION COMBINATOIRE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LE MODÈLE EST IMPLÉMENTÉ EN SCALA AVEC PETRINET, CYSTADIUMPETRIMODEL ET PETRINETANALYZER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5380" y="8701823"/>
            <a:ext cx="6861323" cy="109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</a:t>
            </a: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EPRÉSENTER LES CONFLITS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REPRÉSENTER LA CONCURRENCE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VÉRIFIER LES PROPRIÉTÉS DU SYSTÈME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476280" y="7700451"/>
            <a:ext cx="934541" cy="1068047"/>
          </a:xfrm>
          <a:custGeom>
            <a:avLst/>
            <a:gdLst/>
            <a:ahLst/>
            <a:cxnLst/>
            <a:rect r="r" b="b" t="t" l="l"/>
            <a:pathLst>
              <a:path h="1068047" w="934541">
                <a:moveTo>
                  <a:pt x="0" y="0"/>
                </a:moveTo>
                <a:lnTo>
                  <a:pt x="934541" y="0"/>
                </a:lnTo>
                <a:lnTo>
                  <a:pt x="934541" y="1068047"/>
                </a:lnTo>
                <a:lnTo>
                  <a:pt x="0" y="10680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7383" y="4485403"/>
            <a:ext cx="15178849" cy="5463541"/>
            <a:chOff x="0" y="0"/>
            <a:chExt cx="3997721" cy="14389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97721" cy="1438957"/>
            </a:xfrm>
            <a:custGeom>
              <a:avLst/>
              <a:gdLst/>
              <a:ahLst/>
              <a:cxnLst/>
              <a:rect r="r" b="b" t="t" l="l"/>
              <a:pathLst>
                <a:path h="1438957" w="3997721">
                  <a:moveTo>
                    <a:pt x="9181" y="0"/>
                  </a:moveTo>
                  <a:lnTo>
                    <a:pt x="3988541" y="0"/>
                  </a:lnTo>
                  <a:cubicBezTo>
                    <a:pt x="3993611" y="0"/>
                    <a:pt x="3997721" y="4110"/>
                    <a:pt x="3997721" y="9181"/>
                  </a:cubicBezTo>
                  <a:lnTo>
                    <a:pt x="3997721" y="1429776"/>
                  </a:lnTo>
                  <a:cubicBezTo>
                    <a:pt x="3997721" y="1432211"/>
                    <a:pt x="3996754" y="1434547"/>
                    <a:pt x="3995033" y="1436268"/>
                  </a:cubicBezTo>
                  <a:cubicBezTo>
                    <a:pt x="3993311" y="1437990"/>
                    <a:pt x="3990975" y="1438957"/>
                    <a:pt x="3988541" y="1438957"/>
                  </a:cubicBezTo>
                  <a:lnTo>
                    <a:pt x="9181" y="1438957"/>
                  </a:lnTo>
                  <a:cubicBezTo>
                    <a:pt x="6746" y="1438957"/>
                    <a:pt x="4411" y="1437990"/>
                    <a:pt x="2689" y="1436268"/>
                  </a:cubicBezTo>
                  <a:cubicBezTo>
                    <a:pt x="967" y="1434547"/>
                    <a:pt x="0" y="1432211"/>
                    <a:pt x="0" y="1429776"/>
                  </a:cubicBezTo>
                  <a:lnTo>
                    <a:pt x="0" y="9181"/>
                  </a:lnTo>
                  <a:cubicBezTo>
                    <a:pt x="0" y="6746"/>
                    <a:pt x="967" y="4411"/>
                    <a:pt x="2689" y="2689"/>
                  </a:cubicBezTo>
                  <a:cubicBezTo>
                    <a:pt x="4411" y="967"/>
                    <a:pt x="6746" y="0"/>
                    <a:pt x="9181" y="0"/>
                  </a:cubicBezTo>
                  <a:close/>
                </a:path>
              </a:pathLst>
            </a:custGeom>
            <a:solidFill>
              <a:srgbClr val="358A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97721" cy="1477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8657" y="1529719"/>
            <a:ext cx="15536300" cy="25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  <a:spcBef>
                <a:spcPct val="0"/>
              </a:spcBef>
            </a:pPr>
            <a:r>
              <a:rPr lang="en-US" sz="60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Propriétés vérifiées : sûreté, vivacité, cohérence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916026">
            <a:off x="16530757" y="1203614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244017">
            <a:off x="-1757243" y="1769745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41955" y="4828013"/>
            <a:ext cx="2917650" cy="1029135"/>
            <a:chOff x="0" y="0"/>
            <a:chExt cx="3890200" cy="1372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90200" cy="1372180"/>
            </a:xfrm>
            <a:custGeom>
              <a:avLst/>
              <a:gdLst/>
              <a:ahLst/>
              <a:cxnLst/>
              <a:rect r="r" b="b" t="t" l="l"/>
              <a:pathLst>
                <a:path h="1372180" w="3890200">
                  <a:moveTo>
                    <a:pt x="0" y="0"/>
                  </a:moveTo>
                  <a:lnTo>
                    <a:pt x="3890200" y="0"/>
                  </a:lnTo>
                  <a:lnTo>
                    <a:pt x="3890200" y="1372180"/>
                  </a:lnTo>
                  <a:lnTo>
                    <a:pt x="0" y="1372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942139" y="393042"/>
              <a:ext cx="1852071" cy="598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32"/>
                </a:lnSpc>
              </a:pPr>
              <a:r>
                <a:rPr lang="en-US" b="true" sz="2666">
                  <a:solidFill>
                    <a:srgbClr val="FFDE59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SÛRETÉ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46240" y="6180081"/>
            <a:ext cx="3709081" cy="782279"/>
            <a:chOff x="0" y="0"/>
            <a:chExt cx="4945442" cy="10430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45442" cy="1043039"/>
            </a:xfrm>
            <a:custGeom>
              <a:avLst/>
              <a:gdLst/>
              <a:ahLst/>
              <a:cxnLst/>
              <a:rect r="r" b="b" t="t" l="l"/>
              <a:pathLst>
                <a:path h="1043039" w="4945442">
                  <a:moveTo>
                    <a:pt x="0" y="0"/>
                  </a:moveTo>
                  <a:lnTo>
                    <a:pt x="4945442" y="0"/>
                  </a:lnTo>
                  <a:lnTo>
                    <a:pt x="4945442" y="1043039"/>
                  </a:lnTo>
                  <a:lnTo>
                    <a:pt x="0" y="1043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27621" y="67578"/>
              <a:ext cx="3890200" cy="935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6"/>
                </a:lnSpc>
                <a:spcBef>
                  <a:spcPct val="0"/>
                </a:spcBef>
              </a:pPr>
              <a:r>
                <a:rPr lang="en-US" b="true" sz="2033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PAS DE DOUBLE RÉSERVATION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46240" y="7286210"/>
            <a:ext cx="3709081" cy="782279"/>
            <a:chOff x="0" y="0"/>
            <a:chExt cx="4945442" cy="10430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45442" cy="1043039"/>
            </a:xfrm>
            <a:custGeom>
              <a:avLst/>
              <a:gdLst/>
              <a:ahLst/>
              <a:cxnLst/>
              <a:rect r="r" b="b" t="t" l="l"/>
              <a:pathLst>
                <a:path h="1043039" w="4945442">
                  <a:moveTo>
                    <a:pt x="0" y="0"/>
                  </a:moveTo>
                  <a:lnTo>
                    <a:pt x="4945442" y="0"/>
                  </a:lnTo>
                  <a:lnTo>
                    <a:pt x="4945442" y="1043039"/>
                  </a:lnTo>
                  <a:lnTo>
                    <a:pt x="0" y="1043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628559" y="82784"/>
              <a:ext cx="3688323" cy="935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6"/>
                </a:lnSpc>
                <a:spcBef>
                  <a:spcPct val="0"/>
                </a:spcBef>
              </a:pPr>
              <a:r>
                <a:rPr lang="en-US" b="true" sz="2033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UN SIÈGE A UN SEUL STATUT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6999" y="8392339"/>
            <a:ext cx="4647563" cy="980213"/>
            <a:chOff x="0" y="0"/>
            <a:chExt cx="6196751" cy="1306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96751" cy="1306951"/>
            </a:xfrm>
            <a:custGeom>
              <a:avLst/>
              <a:gdLst/>
              <a:ahLst/>
              <a:cxnLst/>
              <a:rect r="r" b="b" t="t" l="l"/>
              <a:pathLst>
                <a:path h="1306951" w="6196751">
                  <a:moveTo>
                    <a:pt x="0" y="0"/>
                  </a:moveTo>
                  <a:lnTo>
                    <a:pt x="6196751" y="0"/>
                  </a:lnTo>
                  <a:lnTo>
                    <a:pt x="6196751" y="1306951"/>
                  </a:lnTo>
                  <a:lnTo>
                    <a:pt x="0" y="1306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69286" y="229086"/>
              <a:ext cx="5858179" cy="935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6"/>
                </a:lnSpc>
                <a:spcBef>
                  <a:spcPct val="0"/>
                </a:spcBef>
              </a:pPr>
              <a:r>
                <a:rPr lang="en-US" b="true" sz="2033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UN SIÈGE CONFIRMÉ IMPLIQUE UN PAIEMENT RÉUSSI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83376" y="4828013"/>
            <a:ext cx="2787512" cy="983231"/>
            <a:chOff x="0" y="0"/>
            <a:chExt cx="3716682" cy="13109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16682" cy="1310975"/>
            </a:xfrm>
            <a:custGeom>
              <a:avLst/>
              <a:gdLst/>
              <a:ahLst/>
              <a:cxnLst/>
              <a:rect r="r" b="b" t="t" l="l"/>
              <a:pathLst>
                <a:path h="1310975" w="3716682">
                  <a:moveTo>
                    <a:pt x="0" y="0"/>
                  </a:moveTo>
                  <a:lnTo>
                    <a:pt x="3716682" y="0"/>
                  </a:lnTo>
                  <a:lnTo>
                    <a:pt x="3716682" y="1310975"/>
                  </a:lnTo>
                  <a:lnTo>
                    <a:pt x="0" y="1310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655269" y="379730"/>
              <a:ext cx="2570611" cy="5834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65"/>
                </a:lnSpc>
              </a:pPr>
              <a:r>
                <a:rPr lang="en-US" b="true" sz="2547">
                  <a:solidFill>
                    <a:srgbClr val="FFDE59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VIVACITÉ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88462" y="6119774"/>
            <a:ext cx="4177339" cy="881039"/>
            <a:chOff x="0" y="0"/>
            <a:chExt cx="5569785" cy="11747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69785" cy="1174718"/>
            </a:xfrm>
            <a:custGeom>
              <a:avLst/>
              <a:gdLst/>
              <a:ahLst/>
              <a:cxnLst/>
              <a:rect r="r" b="b" t="t" l="l"/>
              <a:pathLst>
                <a:path h="1174718" w="5569785">
                  <a:moveTo>
                    <a:pt x="0" y="0"/>
                  </a:moveTo>
                  <a:lnTo>
                    <a:pt x="5569785" y="0"/>
                  </a:lnTo>
                  <a:lnTo>
                    <a:pt x="5569785" y="1174718"/>
                  </a:lnTo>
                  <a:lnTo>
                    <a:pt x="0" y="1174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31790" y="157989"/>
              <a:ext cx="5306206" cy="886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9"/>
                </a:lnSpc>
                <a:spcBef>
                  <a:spcPct val="0"/>
                </a:spcBef>
              </a:pPr>
              <a:r>
                <a:rPr lang="en-US" b="true" sz="1942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TOUTE ATTENTE DE PAIEMENT FINIT PAR SE RÉSOUDRE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100171" y="7309341"/>
            <a:ext cx="3553921" cy="747386"/>
            <a:chOff x="0" y="0"/>
            <a:chExt cx="4738562" cy="9965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4856" cy="996515"/>
            </a:xfrm>
            <a:custGeom>
              <a:avLst/>
              <a:gdLst/>
              <a:ahLst/>
              <a:cxnLst/>
              <a:rect r="r" b="b" t="t" l="l"/>
              <a:pathLst>
                <a:path h="996515" w="4724856">
                  <a:moveTo>
                    <a:pt x="0" y="0"/>
                  </a:moveTo>
                  <a:lnTo>
                    <a:pt x="4724856" y="0"/>
                  </a:lnTo>
                  <a:lnTo>
                    <a:pt x="4724856" y="996515"/>
                  </a:lnTo>
                  <a:lnTo>
                    <a:pt x="0" y="996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3705" y="62019"/>
              <a:ext cx="4724856" cy="886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9"/>
                </a:lnSpc>
                <a:spcBef>
                  <a:spcPct val="0"/>
                </a:spcBef>
              </a:pPr>
              <a:r>
                <a:rPr lang="en-US" b="true" sz="1942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PAS DE DEADLOCK INATTENDU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691134" y="4828013"/>
            <a:ext cx="2992365" cy="1055489"/>
            <a:chOff x="0" y="0"/>
            <a:chExt cx="3989820" cy="14073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89820" cy="1407318"/>
            </a:xfrm>
            <a:custGeom>
              <a:avLst/>
              <a:gdLst/>
              <a:ahLst/>
              <a:cxnLst/>
              <a:rect r="r" b="b" t="t" l="l"/>
              <a:pathLst>
                <a:path h="1407318" w="3989820">
                  <a:moveTo>
                    <a:pt x="0" y="0"/>
                  </a:moveTo>
                  <a:lnTo>
                    <a:pt x="3989820" y="0"/>
                  </a:lnTo>
                  <a:lnTo>
                    <a:pt x="3989820" y="1407318"/>
                  </a:lnTo>
                  <a:lnTo>
                    <a:pt x="0" y="1407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507135" y="407814"/>
              <a:ext cx="2975549" cy="611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7"/>
                </a:lnSpc>
              </a:pPr>
              <a:r>
                <a:rPr lang="en-US" b="true" sz="2734">
                  <a:solidFill>
                    <a:srgbClr val="FFDE59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STRUCTURE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108455" y="6170065"/>
            <a:ext cx="3804063" cy="802311"/>
            <a:chOff x="0" y="0"/>
            <a:chExt cx="5072084" cy="10697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72084" cy="1069749"/>
            </a:xfrm>
            <a:custGeom>
              <a:avLst/>
              <a:gdLst/>
              <a:ahLst/>
              <a:cxnLst/>
              <a:rect r="r" b="b" t="t" l="l"/>
              <a:pathLst>
                <a:path h="1069749" w="5072084">
                  <a:moveTo>
                    <a:pt x="0" y="0"/>
                  </a:moveTo>
                  <a:lnTo>
                    <a:pt x="5072084" y="0"/>
                  </a:lnTo>
                  <a:lnTo>
                    <a:pt x="5072084" y="1069749"/>
                  </a:lnTo>
                  <a:lnTo>
                    <a:pt x="0" y="1069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1434431" y="270276"/>
              <a:ext cx="2203222" cy="472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9"/>
                </a:lnSpc>
                <a:spcBef>
                  <a:spcPct val="0"/>
                </a:spcBef>
              </a:pPr>
              <a:r>
                <a:rPr lang="en-US" b="true" sz="2085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BORNITUDE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02977" y="7238542"/>
            <a:ext cx="4215018" cy="888986"/>
            <a:chOff x="0" y="0"/>
            <a:chExt cx="5620024" cy="118531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20024" cy="1185314"/>
            </a:xfrm>
            <a:custGeom>
              <a:avLst/>
              <a:gdLst/>
              <a:ahLst/>
              <a:cxnLst/>
              <a:rect r="r" b="b" t="t" l="l"/>
              <a:pathLst>
                <a:path h="1185314" w="5620024">
                  <a:moveTo>
                    <a:pt x="0" y="0"/>
                  </a:moveTo>
                  <a:lnTo>
                    <a:pt x="5620024" y="0"/>
                  </a:lnTo>
                  <a:lnTo>
                    <a:pt x="5620024" y="1185314"/>
                  </a:lnTo>
                  <a:lnTo>
                    <a:pt x="0" y="1185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58399" y="328059"/>
              <a:ext cx="5503227" cy="472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9"/>
                </a:lnSpc>
                <a:spcBef>
                  <a:spcPct val="0"/>
                </a:spcBef>
              </a:pPr>
              <a:r>
                <a:rPr lang="en-US" b="true" sz="2085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VIVACITÉ DES TRANSITIONS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05716" y="8392339"/>
            <a:ext cx="4009541" cy="802311"/>
            <a:chOff x="0" y="0"/>
            <a:chExt cx="5346054" cy="10697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6054" cy="1069749"/>
            </a:xfrm>
            <a:custGeom>
              <a:avLst/>
              <a:gdLst/>
              <a:ahLst/>
              <a:cxnLst/>
              <a:rect r="r" b="b" t="t" l="l"/>
              <a:pathLst>
                <a:path h="1069749" w="5346054">
                  <a:moveTo>
                    <a:pt x="0" y="0"/>
                  </a:moveTo>
                  <a:lnTo>
                    <a:pt x="5346054" y="0"/>
                  </a:lnTo>
                  <a:lnTo>
                    <a:pt x="5346054" y="1069749"/>
                  </a:lnTo>
                  <a:lnTo>
                    <a:pt x="0" y="1069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2700" r="0" b="-2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349344" y="270276"/>
              <a:ext cx="4647367" cy="472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9"/>
                </a:lnSpc>
                <a:spcBef>
                  <a:spcPct val="0"/>
                </a:spcBef>
              </a:pPr>
              <a:r>
                <a:rPr lang="en-US" b="true" sz="2085">
                  <a:solidFill>
                    <a:srgbClr val="FFFFFF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COHÉRENCE DES ÉTATS.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AutoShape 44" id="44"/>
          <p:cNvSpPr/>
          <p:nvPr/>
        </p:nvSpPr>
        <p:spPr>
          <a:xfrm flipH="true">
            <a:off x="6438521" y="4485403"/>
            <a:ext cx="0" cy="5463541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1481459" y="4485403"/>
            <a:ext cx="0" cy="553166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281979">
            <a:off x="12950881" y="-131023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281979">
            <a:off x="10517300" y="9827801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9887" y="5515466"/>
            <a:ext cx="492410" cy="670705"/>
          </a:xfrm>
          <a:custGeom>
            <a:avLst/>
            <a:gdLst/>
            <a:ahLst/>
            <a:cxnLst/>
            <a:rect r="r" b="b" t="t" l="l"/>
            <a:pathLst>
              <a:path h="670705" w="492410">
                <a:moveTo>
                  <a:pt x="0" y="0"/>
                </a:moveTo>
                <a:lnTo>
                  <a:pt x="492410" y="0"/>
                </a:lnTo>
                <a:lnTo>
                  <a:pt x="492410" y="670705"/>
                </a:lnTo>
                <a:lnTo>
                  <a:pt x="0" y="670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5373" y="6366158"/>
            <a:ext cx="566924" cy="516416"/>
          </a:xfrm>
          <a:custGeom>
            <a:avLst/>
            <a:gdLst/>
            <a:ahLst/>
            <a:cxnLst/>
            <a:rect r="r" b="b" t="t" l="l"/>
            <a:pathLst>
              <a:path h="516416" w="566924">
                <a:moveTo>
                  <a:pt x="0" y="0"/>
                </a:moveTo>
                <a:lnTo>
                  <a:pt x="566924" y="0"/>
                </a:lnTo>
                <a:lnTo>
                  <a:pt x="566924" y="516416"/>
                </a:lnTo>
                <a:lnTo>
                  <a:pt x="0" y="516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2630" y="7028386"/>
            <a:ext cx="566924" cy="516416"/>
          </a:xfrm>
          <a:custGeom>
            <a:avLst/>
            <a:gdLst/>
            <a:ahLst/>
            <a:cxnLst/>
            <a:rect r="r" b="b" t="t" l="l"/>
            <a:pathLst>
              <a:path h="516416" w="566924">
                <a:moveTo>
                  <a:pt x="0" y="0"/>
                </a:moveTo>
                <a:lnTo>
                  <a:pt x="566924" y="0"/>
                </a:lnTo>
                <a:lnTo>
                  <a:pt x="566924" y="516416"/>
                </a:lnTo>
                <a:lnTo>
                  <a:pt x="0" y="516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5373" y="7691410"/>
            <a:ext cx="676291" cy="676291"/>
          </a:xfrm>
          <a:custGeom>
            <a:avLst/>
            <a:gdLst/>
            <a:ahLst/>
            <a:cxnLst/>
            <a:rect r="r" b="b" t="t" l="l"/>
            <a:pathLst>
              <a:path h="676291" w="676291">
                <a:moveTo>
                  <a:pt x="0" y="0"/>
                </a:moveTo>
                <a:lnTo>
                  <a:pt x="676291" y="0"/>
                </a:lnTo>
                <a:lnTo>
                  <a:pt x="676291" y="676291"/>
                </a:lnTo>
                <a:lnTo>
                  <a:pt x="0" y="6762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69090" y="5143500"/>
            <a:ext cx="8511637" cy="3596166"/>
          </a:xfrm>
          <a:custGeom>
            <a:avLst/>
            <a:gdLst/>
            <a:ahLst/>
            <a:cxnLst/>
            <a:rect r="r" b="b" t="t" l="l"/>
            <a:pathLst>
              <a:path h="3596166" w="8511637">
                <a:moveTo>
                  <a:pt x="0" y="0"/>
                </a:moveTo>
                <a:lnTo>
                  <a:pt x="8511636" y="0"/>
                </a:lnTo>
                <a:lnTo>
                  <a:pt x="8511636" y="3596166"/>
                </a:lnTo>
                <a:lnTo>
                  <a:pt x="0" y="35961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99644" y="1603650"/>
            <a:ext cx="15059656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9"/>
              </a:lnSpc>
              <a:spcBef>
                <a:spcPct val="0"/>
              </a:spcBef>
            </a:pPr>
            <a:r>
              <a:rPr lang="en-US" sz="6999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Tests et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7955" y="5815208"/>
            <a:ext cx="5022097" cy="3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1"/>
              </a:lnSpc>
            </a:pPr>
            <a:r>
              <a:rPr lang="en-US" sz="213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52 tests Scala exécutés, 52 réussis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955" y="6609683"/>
            <a:ext cx="5460883" cy="3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1"/>
              </a:lnSpc>
            </a:pPr>
            <a:r>
              <a:rPr lang="en-US" sz="213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Backend compilé avec succès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955" y="7264397"/>
            <a:ext cx="5256767" cy="3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1"/>
              </a:lnSpc>
            </a:pPr>
            <a:r>
              <a:rPr lang="en-US" sz="213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Frontend Next.js compilé avec succès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7955" y="7994900"/>
            <a:ext cx="7496335" cy="3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1"/>
              </a:lnSpc>
            </a:pPr>
            <a:r>
              <a:rPr lang="en-US" sz="213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Tous les scénarios critiques S1 à S8 ont été couverts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1417" y="4520048"/>
            <a:ext cx="4206981" cy="46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6"/>
              </a:lnSpc>
            </a:pPr>
            <a:r>
              <a:rPr lang="en-US" b="true" sz="2683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SCÉNARIOS TESTÉS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2851" y="4515464"/>
            <a:ext cx="6098280" cy="46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b="true" sz="2679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ELEMENTS CLÉS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7599" y="5581470"/>
            <a:ext cx="5343420" cy="3198878"/>
            <a:chOff x="0" y="0"/>
            <a:chExt cx="1535329" cy="9191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5329" cy="919136"/>
            </a:xfrm>
            <a:custGeom>
              <a:avLst/>
              <a:gdLst/>
              <a:ahLst/>
              <a:cxnLst/>
              <a:rect r="r" b="b" t="t" l="l"/>
              <a:pathLst>
                <a:path h="919136" w="1535329">
                  <a:moveTo>
                    <a:pt x="0" y="0"/>
                  </a:moveTo>
                  <a:lnTo>
                    <a:pt x="1535329" y="0"/>
                  </a:lnTo>
                  <a:lnTo>
                    <a:pt x="1535329" y="919136"/>
                  </a:lnTo>
                  <a:lnTo>
                    <a:pt x="0" y="919136"/>
                  </a:lnTo>
                  <a:close/>
                </a:path>
              </a:pathLst>
            </a:custGeom>
            <a:blipFill>
              <a:blip r:embed="rId3"/>
              <a:stretch>
                <a:fillRect l="-9792" t="-10240" r="-753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87160" y="8780348"/>
            <a:ext cx="4912545" cy="937849"/>
            <a:chOff x="0" y="0"/>
            <a:chExt cx="6550059" cy="12504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0059" cy="1250466"/>
            </a:xfrm>
            <a:custGeom>
              <a:avLst/>
              <a:gdLst/>
              <a:ahLst/>
              <a:cxnLst/>
              <a:rect r="r" b="b" t="t" l="l"/>
              <a:pathLst>
                <a:path h="1250466" w="6550059">
                  <a:moveTo>
                    <a:pt x="0" y="0"/>
                  </a:moveTo>
                  <a:lnTo>
                    <a:pt x="6550059" y="0"/>
                  </a:lnTo>
                  <a:lnTo>
                    <a:pt x="6550059" y="1250466"/>
                  </a:lnTo>
                  <a:lnTo>
                    <a:pt x="0" y="1250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071383" y="410086"/>
              <a:ext cx="3238319" cy="397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88"/>
                </a:lnSpc>
                <a:spcBef>
                  <a:spcPct val="0"/>
                </a:spcBef>
              </a:pPr>
              <a:r>
                <a:rPr lang="en-US" b="true" sz="2124" spc="-74">
                  <a:solidFill>
                    <a:srgbClr val="2A197B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Page des matchs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4916026">
            <a:off x="16900768" y="670214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244017">
            <a:off x="-1757243" y="1769745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6" y="0"/>
                </a:lnTo>
                <a:lnTo>
                  <a:pt x="3514486" y="3220149"/>
                </a:lnTo>
                <a:lnTo>
                  <a:pt x="0" y="3220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768088" y="8809648"/>
            <a:ext cx="4644212" cy="886622"/>
            <a:chOff x="0" y="0"/>
            <a:chExt cx="6192282" cy="1182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92282" cy="1182163"/>
            </a:xfrm>
            <a:custGeom>
              <a:avLst/>
              <a:gdLst/>
              <a:ahLst/>
              <a:cxnLst/>
              <a:rect r="r" b="b" t="t" l="l"/>
              <a:pathLst>
                <a:path h="1182163" w="6192282">
                  <a:moveTo>
                    <a:pt x="0" y="0"/>
                  </a:moveTo>
                  <a:lnTo>
                    <a:pt x="6192282" y="0"/>
                  </a:lnTo>
                  <a:lnTo>
                    <a:pt x="6192282" y="1182163"/>
                  </a:lnTo>
                  <a:lnTo>
                    <a:pt x="0" y="118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431059" y="379722"/>
              <a:ext cx="3816206" cy="383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68"/>
                </a:lnSpc>
                <a:spcBef>
                  <a:spcPct val="0"/>
                </a:spcBef>
              </a:pPr>
              <a:r>
                <a:rPr lang="en-US" b="true" sz="2008" spc="-70">
                  <a:solidFill>
                    <a:srgbClr val="2A197B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Dashboard Admin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40326" y="8793569"/>
            <a:ext cx="4843290" cy="924628"/>
            <a:chOff x="0" y="0"/>
            <a:chExt cx="6457719" cy="12328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57719" cy="1232837"/>
            </a:xfrm>
            <a:custGeom>
              <a:avLst/>
              <a:gdLst/>
              <a:ahLst/>
              <a:cxnLst/>
              <a:rect r="r" b="b" t="t" l="l"/>
              <a:pathLst>
                <a:path h="1232837" w="6457719">
                  <a:moveTo>
                    <a:pt x="0" y="0"/>
                  </a:moveTo>
                  <a:lnTo>
                    <a:pt x="6457719" y="0"/>
                  </a:lnTo>
                  <a:lnTo>
                    <a:pt x="6457719" y="1232837"/>
                  </a:lnTo>
                  <a:lnTo>
                    <a:pt x="0" y="123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449537" y="395183"/>
              <a:ext cx="3979791" cy="401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57"/>
                </a:lnSpc>
                <a:spcBef>
                  <a:spcPct val="0"/>
                </a:spcBef>
              </a:pPr>
              <a:r>
                <a:rPr lang="en-US" b="true" sz="2094" spc="-73">
                  <a:solidFill>
                    <a:srgbClr val="2A197B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Carte des sièges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18484" y="5559543"/>
            <a:ext cx="5343420" cy="3198878"/>
            <a:chOff x="0" y="0"/>
            <a:chExt cx="1535329" cy="919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5329" cy="919136"/>
            </a:xfrm>
            <a:custGeom>
              <a:avLst/>
              <a:gdLst/>
              <a:ahLst/>
              <a:cxnLst/>
              <a:rect r="r" b="b" t="t" l="l"/>
              <a:pathLst>
                <a:path h="919136" w="1535329">
                  <a:moveTo>
                    <a:pt x="0" y="0"/>
                  </a:moveTo>
                  <a:lnTo>
                    <a:pt x="1535329" y="0"/>
                  </a:lnTo>
                  <a:lnTo>
                    <a:pt x="1535329" y="919136"/>
                  </a:lnTo>
                  <a:lnTo>
                    <a:pt x="0" y="919136"/>
                  </a:lnTo>
                  <a:close/>
                </a:path>
              </a:pathLst>
            </a:custGeom>
            <a:blipFill>
              <a:blip r:embed="rId7"/>
              <a:stretch>
                <a:fillRect l="-10682" t="-10538" r="-696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90261" y="5581470"/>
            <a:ext cx="5343420" cy="3198878"/>
            <a:chOff x="0" y="0"/>
            <a:chExt cx="1535329" cy="919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5329" cy="919136"/>
            </a:xfrm>
            <a:custGeom>
              <a:avLst/>
              <a:gdLst/>
              <a:ahLst/>
              <a:cxnLst/>
              <a:rect r="r" b="b" t="t" l="l"/>
              <a:pathLst>
                <a:path h="919136" w="1535329">
                  <a:moveTo>
                    <a:pt x="0" y="0"/>
                  </a:moveTo>
                  <a:lnTo>
                    <a:pt x="1535329" y="0"/>
                  </a:lnTo>
                  <a:lnTo>
                    <a:pt x="1535329" y="919136"/>
                  </a:lnTo>
                  <a:lnTo>
                    <a:pt x="0" y="919136"/>
                  </a:lnTo>
                  <a:close/>
                </a:path>
              </a:pathLst>
            </a:custGeom>
            <a:blipFill>
              <a:blip r:embed="rId8"/>
              <a:stretch>
                <a:fillRect l="-3198" t="-9380" r="-14763" b="-1457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604427" y="3315853"/>
            <a:ext cx="870765" cy="979388"/>
          </a:xfrm>
          <a:custGeom>
            <a:avLst/>
            <a:gdLst/>
            <a:ahLst/>
            <a:cxnLst/>
            <a:rect r="r" b="b" t="t" l="l"/>
            <a:pathLst>
              <a:path h="979388" w="870765">
                <a:moveTo>
                  <a:pt x="0" y="0"/>
                </a:moveTo>
                <a:lnTo>
                  <a:pt x="870764" y="0"/>
                </a:lnTo>
                <a:lnTo>
                  <a:pt x="870764" y="979388"/>
                </a:lnTo>
                <a:lnTo>
                  <a:pt x="0" y="979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851316" y="3486797"/>
            <a:ext cx="933623" cy="755386"/>
          </a:xfrm>
          <a:custGeom>
            <a:avLst/>
            <a:gdLst/>
            <a:ahLst/>
            <a:cxnLst/>
            <a:rect r="r" b="b" t="t" l="l"/>
            <a:pathLst>
              <a:path h="755386" w="933623">
                <a:moveTo>
                  <a:pt x="0" y="0"/>
                </a:moveTo>
                <a:lnTo>
                  <a:pt x="933623" y="0"/>
                </a:lnTo>
                <a:lnTo>
                  <a:pt x="933623" y="755386"/>
                </a:lnTo>
                <a:lnTo>
                  <a:pt x="0" y="755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895769" y="3307880"/>
            <a:ext cx="1064528" cy="995334"/>
          </a:xfrm>
          <a:custGeom>
            <a:avLst/>
            <a:gdLst/>
            <a:ahLst/>
            <a:cxnLst/>
            <a:rect r="r" b="b" t="t" l="l"/>
            <a:pathLst>
              <a:path h="995334" w="1064528">
                <a:moveTo>
                  <a:pt x="0" y="0"/>
                </a:moveTo>
                <a:lnTo>
                  <a:pt x="1064528" y="0"/>
                </a:lnTo>
                <a:lnTo>
                  <a:pt x="1064528" y="995334"/>
                </a:lnTo>
                <a:lnTo>
                  <a:pt x="0" y="9953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051879" y="3405095"/>
            <a:ext cx="1058387" cy="816281"/>
          </a:xfrm>
          <a:custGeom>
            <a:avLst/>
            <a:gdLst/>
            <a:ahLst/>
            <a:cxnLst/>
            <a:rect r="r" b="b" t="t" l="l"/>
            <a:pathLst>
              <a:path h="816281" w="1058387">
                <a:moveTo>
                  <a:pt x="0" y="0"/>
                </a:moveTo>
                <a:lnTo>
                  <a:pt x="1058387" y="0"/>
                </a:lnTo>
                <a:lnTo>
                  <a:pt x="1058387" y="816281"/>
                </a:lnTo>
                <a:lnTo>
                  <a:pt x="0" y="81628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402357" y="3338789"/>
            <a:ext cx="1051155" cy="926330"/>
          </a:xfrm>
          <a:custGeom>
            <a:avLst/>
            <a:gdLst/>
            <a:ahLst/>
            <a:cxnLst/>
            <a:rect r="r" b="b" t="t" l="l"/>
            <a:pathLst>
              <a:path h="926330" w="1051155">
                <a:moveTo>
                  <a:pt x="0" y="0"/>
                </a:moveTo>
                <a:lnTo>
                  <a:pt x="1051155" y="0"/>
                </a:lnTo>
                <a:lnTo>
                  <a:pt x="1051155" y="926330"/>
                </a:lnTo>
                <a:lnTo>
                  <a:pt x="0" y="92633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380494" y="3395570"/>
            <a:ext cx="1042559" cy="1042559"/>
          </a:xfrm>
          <a:custGeom>
            <a:avLst/>
            <a:gdLst/>
            <a:ahLst/>
            <a:cxnLst/>
            <a:rect r="r" b="b" t="t" l="l"/>
            <a:pathLst>
              <a:path h="1042559" w="1042559">
                <a:moveTo>
                  <a:pt x="0" y="0"/>
                </a:moveTo>
                <a:lnTo>
                  <a:pt x="1042560" y="0"/>
                </a:lnTo>
                <a:lnTo>
                  <a:pt x="1042560" y="1042560"/>
                </a:lnTo>
                <a:lnTo>
                  <a:pt x="0" y="104256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661179" y="3272753"/>
            <a:ext cx="1240623" cy="1240623"/>
          </a:xfrm>
          <a:custGeom>
            <a:avLst/>
            <a:gdLst/>
            <a:ahLst/>
            <a:cxnLst/>
            <a:rect r="r" b="b" t="t" l="l"/>
            <a:pathLst>
              <a:path h="1240623" w="1240623">
                <a:moveTo>
                  <a:pt x="0" y="0"/>
                </a:moveTo>
                <a:lnTo>
                  <a:pt x="1240623" y="0"/>
                </a:lnTo>
                <a:lnTo>
                  <a:pt x="1240623" y="1240624"/>
                </a:lnTo>
                <a:lnTo>
                  <a:pt x="0" y="12406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43254" y="327664"/>
            <a:ext cx="1394544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0"/>
              </a:lnSpc>
              <a:spcBef>
                <a:spcPct val="0"/>
              </a:spcBef>
            </a:pPr>
            <a:r>
              <a:rPr lang="en-US" b="true" sz="60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Démonstration de l’application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5212" y="2484124"/>
            <a:ext cx="413175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INTERFACE UTILISATEUR DÉVELOPPÉE EN </a:t>
            </a:r>
            <a:r>
              <a:rPr lang="en-US" b="true" sz="1800">
                <a:solidFill>
                  <a:srgbClr val="53C1DE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NEXT.JS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7599" y="4741369"/>
            <a:ext cx="525809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CONSULTATION DES MATCHS ET DES ZONES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33959" y="4741369"/>
            <a:ext cx="59453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CARTE INTERACTIVE DES SIÈGES AVEC </a:t>
            </a:r>
            <a:r>
              <a:rPr lang="en-US" b="true" sz="1800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SEATMAP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15376" y="2484124"/>
            <a:ext cx="320606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RÉSERVATION, PANIER ET PAIEMENT SIMULÉ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75060" y="4741369"/>
            <a:ext cx="548669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BACK-OFFIC</a:t>
            </a:r>
            <a:r>
              <a:rPr lang="en-US" b="true" sz="1800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 ADMIN POUR LE MONITORING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6009" y="2484124"/>
            <a:ext cx="335832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MI</a:t>
            </a:r>
            <a:r>
              <a:rPr lang="en-US" b="true" sz="180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 À JOUR TEMPS RÉEL VIA WEBSOCKET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1565425">
            <a:off x="15263349" y="1231023"/>
            <a:ext cx="10103157" cy="12376289"/>
            <a:chOff x="0" y="0"/>
            <a:chExt cx="2660914" cy="32595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60914" cy="3259599"/>
            </a:xfrm>
            <a:custGeom>
              <a:avLst/>
              <a:gdLst/>
              <a:ahLst/>
              <a:cxnLst/>
              <a:rect r="r" b="b" t="t" l="l"/>
              <a:pathLst>
                <a:path h="3259599" w="2660914">
                  <a:moveTo>
                    <a:pt x="0" y="0"/>
                  </a:moveTo>
                  <a:lnTo>
                    <a:pt x="2660914" y="0"/>
                  </a:lnTo>
                  <a:lnTo>
                    <a:pt x="2660914" y="3259599"/>
                  </a:lnTo>
                  <a:lnTo>
                    <a:pt x="0" y="3259599"/>
                  </a:lnTo>
                  <a:close/>
                </a:path>
              </a:pathLst>
            </a:custGeom>
            <a:solidFill>
              <a:srgbClr val="358A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60914" cy="3316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90887" y="5248939"/>
            <a:ext cx="433689" cy="433689"/>
          </a:xfrm>
          <a:custGeom>
            <a:avLst/>
            <a:gdLst/>
            <a:ahLst/>
            <a:cxnLst/>
            <a:rect r="r" b="b" t="t" l="l"/>
            <a:pathLst>
              <a:path h="433689" w="433689">
                <a:moveTo>
                  <a:pt x="0" y="0"/>
                </a:moveTo>
                <a:lnTo>
                  <a:pt x="433689" y="0"/>
                </a:lnTo>
                <a:lnTo>
                  <a:pt x="433689" y="433689"/>
                </a:lnTo>
                <a:lnTo>
                  <a:pt x="0" y="433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890887" y="5973894"/>
            <a:ext cx="433689" cy="433689"/>
          </a:xfrm>
          <a:custGeom>
            <a:avLst/>
            <a:gdLst/>
            <a:ahLst/>
            <a:cxnLst/>
            <a:rect r="r" b="b" t="t" l="l"/>
            <a:pathLst>
              <a:path h="433689" w="433689">
                <a:moveTo>
                  <a:pt x="0" y="0"/>
                </a:moveTo>
                <a:lnTo>
                  <a:pt x="433689" y="0"/>
                </a:lnTo>
                <a:lnTo>
                  <a:pt x="433689" y="433690"/>
                </a:lnTo>
                <a:lnTo>
                  <a:pt x="0" y="433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75805" y="1725841"/>
            <a:ext cx="8115300" cy="18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36"/>
              </a:lnSpc>
            </a:pPr>
            <a:r>
              <a:rPr lang="en-US" sz="670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Conclusion et bilan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2244017">
            <a:off x="3925547" y="9911699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64640">
            <a:off x="4158508" y="-1970115"/>
            <a:ext cx="3514487" cy="3220148"/>
          </a:xfrm>
          <a:custGeom>
            <a:avLst/>
            <a:gdLst/>
            <a:ahLst/>
            <a:cxnLst/>
            <a:rect r="r" b="b" t="t" l="l"/>
            <a:pathLst>
              <a:path h="3220148" w="3514487">
                <a:moveTo>
                  <a:pt x="0" y="0"/>
                </a:moveTo>
                <a:lnTo>
                  <a:pt x="3514487" y="0"/>
                </a:lnTo>
                <a:lnTo>
                  <a:pt x="3514487" y="3220148"/>
                </a:lnTo>
                <a:lnTo>
                  <a:pt x="0" y="3220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9175" y="873572"/>
            <a:ext cx="587883" cy="587883"/>
          </a:xfrm>
          <a:custGeom>
            <a:avLst/>
            <a:gdLst/>
            <a:ahLst/>
            <a:cxnLst/>
            <a:rect r="r" b="b" t="t" l="l"/>
            <a:pathLst>
              <a:path h="587883" w="587883">
                <a:moveTo>
                  <a:pt x="0" y="0"/>
                </a:moveTo>
                <a:lnTo>
                  <a:pt x="587883" y="0"/>
                </a:lnTo>
                <a:lnTo>
                  <a:pt x="587883" y="587883"/>
                </a:lnTo>
                <a:lnTo>
                  <a:pt x="0" y="5878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92952" y="873572"/>
            <a:ext cx="8695048" cy="5506229"/>
            <a:chOff x="0" y="0"/>
            <a:chExt cx="1472802" cy="932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2802" cy="932667"/>
            </a:xfrm>
            <a:custGeom>
              <a:avLst/>
              <a:gdLst/>
              <a:ahLst/>
              <a:cxnLst/>
              <a:rect r="r" b="b" t="t" l="l"/>
              <a:pathLst>
                <a:path h="932667" w="1472802">
                  <a:moveTo>
                    <a:pt x="0" y="0"/>
                  </a:moveTo>
                  <a:lnTo>
                    <a:pt x="1472802" y="0"/>
                  </a:lnTo>
                  <a:lnTo>
                    <a:pt x="1472802" y="932667"/>
                  </a:lnTo>
                  <a:lnTo>
                    <a:pt x="0" y="932667"/>
                  </a:lnTo>
                  <a:close/>
                </a:path>
              </a:pathLst>
            </a:custGeom>
            <a:blipFill>
              <a:blip r:embed="rId9"/>
              <a:stretch>
                <a:fillRect l="-14291" t="-11009" r="-1068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65212" y="1007234"/>
            <a:ext cx="2749193" cy="3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6"/>
              </a:lnSpc>
            </a:pPr>
            <a:r>
              <a:rPr lang="en-US" b="true" sz="200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1936" y="5091955"/>
            <a:ext cx="8502064" cy="291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595"/>
              </a:lnSpc>
              <a:buFont typeface="Arial"/>
              <a:buChar char="•"/>
            </a:pP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Conception d’un système distribué complet de réservation d</a:t>
            </a: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 sièges</a:t>
            </a:r>
          </a:p>
          <a:p>
            <a:pPr algn="just" marL="474979" indent="-237490" lvl="1">
              <a:lnSpc>
                <a:spcPts val="2595"/>
              </a:lnSpc>
              <a:buFont typeface="Arial"/>
              <a:buChar char="•"/>
            </a:pP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</a:t>
            </a: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rchitecture par acteurs : gère  proprement la concurrence</a:t>
            </a:r>
          </a:p>
          <a:p>
            <a:pPr algn="just" marL="474979" indent="-237490" lvl="1">
              <a:lnSpc>
                <a:spcPts val="2595"/>
              </a:lnSpc>
              <a:buFont typeface="Arial"/>
              <a:buChar char="•"/>
            </a:pP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Le choix d’</a:t>
            </a: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un </a:t>
            </a:r>
            <a:r>
              <a:rPr lang="en-US" b="true" sz="2199" spc="-76">
                <a:solidFill>
                  <a:srgbClr val="00BF63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SeatActor</a:t>
            </a: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par siège garantit l’exclusivité au bon niveau</a:t>
            </a:r>
          </a:p>
          <a:p>
            <a:pPr algn="just" marL="474979" indent="-237490" lvl="1">
              <a:lnSpc>
                <a:spcPts val="2595"/>
              </a:lnSpc>
              <a:buFont typeface="Arial"/>
              <a:buChar char="•"/>
            </a:pP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Vérification formelle du coeur critique :</a:t>
            </a:r>
            <a:r>
              <a:rPr lang="en-US" sz="2199" spc="-7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réseau de Pétri et analyseur Scala</a:t>
            </a:r>
          </a:p>
          <a:p>
            <a:pPr algn="just" marL="474979" indent="-237490" lvl="1">
              <a:lnSpc>
                <a:spcPts val="2595"/>
              </a:lnSpc>
              <a:buFont typeface="Arial"/>
              <a:buChar char="•"/>
            </a:pPr>
            <a:r>
              <a:rPr lang="en-US" sz="2199" spc="-76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Validation du comportement du système dans les scénarios sensibles grâce aux tests et simulations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40323" y="6955735"/>
            <a:ext cx="4157781" cy="3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3"/>
              </a:lnSpc>
              <a:spcBef>
                <a:spcPct val="0"/>
              </a:spcBef>
            </a:pPr>
            <a:r>
              <a:rPr lang="en-US" b="true" sz="235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AGUEL FATIMA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2354" y="4379443"/>
            <a:ext cx="6031431" cy="41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b="true" sz="236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 QUE NOUS AVONS RÉALISÉ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2354" y="8250318"/>
            <a:ext cx="848596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>
                <a:solidFill>
                  <a:srgbClr val="FFDE5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 NE SE CONTENTE PAS DE FONCTIONNER : IL A AUSSI ÉTÉ CONÇU POUR ÊTRE VÉRIFIABLE ET COHÉRENT EN SITUATION DE CONCURRENCE.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07731" y="7589974"/>
            <a:ext cx="4157781" cy="3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3"/>
              </a:lnSpc>
              <a:spcBef>
                <a:spcPct val="0"/>
              </a:spcBef>
            </a:pPr>
            <a:r>
              <a:rPr lang="en-US" b="true" sz="235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EL HARSAL ABDELAH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45842" y="8225553"/>
            <a:ext cx="4157781" cy="3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3"/>
              </a:lnSpc>
              <a:spcBef>
                <a:spcPct val="0"/>
              </a:spcBef>
            </a:pPr>
            <a:r>
              <a:rPr lang="en-US" b="true" sz="235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GEORGEL ELEONORE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6982" y="8854059"/>
            <a:ext cx="4157781" cy="3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3"/>
              </a:lnSpc>
              <a:spcBef>
                <a:spcPct val="0"/>
              </a:spcBef>
            </a:pPr>
            <a:r>
              <a:rPr lang="en-US" b="true" sz="235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RIBAR INES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08317" y="9480112"/>
            <a:ext cx="4157781" cy="3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3"/>
              </a:lnSpc>
              <a:spcBef>
                <a:spcPct val="0"/>
              </a:spcBef>
            </a:pPr>
            <a:r>
              <a:rPr lang="en-US" b="true" sz="235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TERRAK ADAM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" r="0" b="-8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42" y="258020"/>
            <a:ext cx="18275915" cy="9770960"/>
          </a:xfrm>
          <a:custGeom>
            <a:avLst/>
            <a:gdLst/>
            <a:ahLst/>
            <a:cxnLst/>
            <a:rect r="r" b="b" t="t" l="l"/>
            <a:pathLst>
              <a:path h="9770960" w="18275915">
                <a:moveTo>
                  <a:pt x="0" y="0"/>
                </a:moveTo>
                <a:lnTo>
                  <a:pt x="18275916" y="0"/>
                </a:lnTo>
                <a:lnTo>
                  <a:pt x="18275916" y="9770960"/>
                </a:lnTo>
                <a:lnTo>
                  <a:pt x="0" y="9770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48557" y="4627538"/>
            <a:ext cx="9990887" cy="209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6"/>
              </a:lnSpc>
            </a:pPr>
            <a:r>
              <a:rPr lang="en-US" sz="16680">
                <a:solidFill>
                  <a:srgbClr val="1F3AFF"/>
                </a:solidFill>
                <a:latin typeface="HK Modular"/>
                <a:ea typeface="HK Modular"/>
                <a:cs typeface="HK Modular"/>
                <a:sym typeface="HK Modular"/>
              </a:rPr>
              <a:t>merci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038420" y="2537032"/>
            <a:ext cx="1365169" cy="1365169"/>
          </a:xfrm>
          <a:custGeom>
            <a:avLst/>
            <a:gdLst/>
            <a:ahLst/>
            <a:cxnLst/>
            <a:rect r="r" b="b" t="t" l="l"/>
            <a:pathLst>
              <a:path h="1365169" w="1365169">
                <a:moveTo>
                  <a:pt x="0" y="0"/>
                </a:moveTo>
                <a:lnTo>
                  <a:pt x="1365169" y="0"/>
                </a:lnTo>
                <a:lnTo>
                  <a:pt x="1365169" y="1365169"/>
                </a:lnTo>
                <a:lnTo>
                  <a:pt x="0" y="1365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38633" y="2875357"/>
            <a:ext cx="6384112" cy="80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16"/>
              </a:lnSpc>
            </a:pPr>
            <a:r>
              <a:rPr lang="en-US" b="true" sz="465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CYSTADIUM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DAHIiLNljvU</dc:identifier>
  <dcterms:modified xsi:type="dcterms:W3CDTF">2011-08-01T06:04:30Z</dcterms:modified>
  <cp:revision>1</cp:revision>
  <dc:title>scala</dc:title>
</cp:coreProperties>
</file>